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5" r:id="rId9"/>
  </p:sldIdLst>
  <p:sldSz cx="9144000" cy="5143500" type="screen16x9"/>
  <p:notesSz cx="5143500" cy="9144000"/>
  <p:embeddedFontLst>
    <p:embeddedFont>
      <p:font typeface="Consolas" panose="020B0609020204030204" pitchFamily="49" charset="0"/>
      <p:regular r:id="rId11"/>
      <p:bold r:id="rId12"/>
      <p:italic r:id="rId13"/>
      <p:boldItalic r:id="rId14"/>
    </p:embeddedFont>
    <p:embeddedFont>
      <p:font typeface="Gelasio" panose="020B0604020202020204" charset="0"/>
      <p:regular r:id="rId15"/>
    </p:embeddedFont>
    <p:embeddedFont>
      <p:font typeface="Lato" panose="020F0502020204030203" pitchFamily="34" charset="0"/>
      <p:regular r:id="rId16"/>
    </p:embeddedFont>
    <p:embeddedFont>
      <p:font typeface="Lato Bold" panose="020B0604020202020204" charset="0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4459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1351731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Manufacturing Performance Analytics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3925119" y="2450306"/>
            <a:ext cx="472276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Análise integrada de Produção, Qualidade, Manutenção e Asseguração da Qualidade com Machine Learning — numa fábrica simulada de embalagens plásticas.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3925119" y="3290218"/>
            <a:ext cx="392311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E5E5E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3"/>
          <p:cNvSpPr/>
          <p:nvPr/>
        </p:nvSpPr>
        <p:spPr>
          <a:xfrm>
            <a:off x="4010174" y="3332708"/>
            <a:ext cx="679400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E5E5E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OEE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388272" y="3290218"/>
            <a:ext cx="624260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E5E5E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5"/>
          <p:cNvSpPr/>
          <p:nvPr/>
        </p:nvSpPr>
        <p:spPr>
          <a:xfrm>
            <a:off x="4473327" y="3332708"/>
            <a:ext cx="91134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E5E5E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CEP/SPC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083373" y="3290218"/>
            <a:ext cx="990600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E5E5E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7"/>
          <p:cNvSpPr/>
          <p:nvPr/>
        </p:nvSpPr>
        <p:spPr>
          <a:xfrm>
            <a:off x="5168429" y="3332708"/>
            <a:ext cx="127768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E5E5E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AQL ISO 2859-1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144816" y="3290218"/>
            <a:ext cx="1027881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E5E5E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9"/>
          <p:cNvSpPr/>
          <p:nvPr/>
        </p:nvSpPr>
        <p:spPr>
          <a:xfrm>
            <a:off x="6229871" y="3332708"/>
            <a:ext cx="131497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E5E5E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LEAN SIX SIGMA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7243539" y="3290218"/>
            <a:ext cx="639366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E5E5E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1"/>
          <p:cNvSpPr/>
          <p:nvPr/>
        </p:nvSpPr>
        <p:spPr>
          <a:xfrm>
            <a:off x="7328595" y="3332708"/>
            <a:ext cx="926455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E5E5E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PYTHON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925119" y="3576414"/>
            <a:ext cx="714152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E5E5E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3"/>
          <p:cNvSpPr/>
          <p:nvPr/>
        </p:nvSpPr>
        <p:spPr>
          <a:xfrm>
            <a:off x="4010174" y="3618905"/>
            <a:ext cx="100124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E5E5E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POWER BI</a:t>
            </a:r>
            <a:endParaRPr lang="en-US" sz="850" dirty="0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7DB1C5C9-69E7-9F3F-DA9A-1292AE3FDE15}"/>
              </a:ext>
            </a:extLst>
          </p:cNvPr>
          <p:cNvSpPr/>
          <p:nvPr/>
        </p:nvSpPr>
        <p:spPr>
          <a:xfrm>
            <a:off x="7399606" y="4508695"/>
            <a:ext cx="1744394" cy="555674"/>
          </a:xfrm>
          <a:prstGeom prst="rect">
            <a:avLst/>
          </a:prstGeom>
          <a:solidFill>
            <a:srgbClr val="FEFE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1097459"/>
            <a:ext cx="4722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 Pergunta Central</a:t>
            </a:r>
            <a:endParaRPr lang="en-US" sz="2750" dirty="0"/>
          </a:p>
        </p:txBody>
      </p:sp>
      <p:sp>
        <p:nvSpPr>
          <p:cNvPr id="4" name="Shape 1"/>
          <p:cNvSpPr/>
          <p:nvPr/>
        </p:nvSpPr>
        <p:spPr>
          <a:xfrm>
            <a:off x="3925119" y="1753046"/>
            <a:ext cx="19050" cy="999381"/>
          </a:xfrm>
          <a:prstGeom prst="roundRect">
            <a:avLst>
              <a:gd name="adj" fmla="val 60000"/>
            </a:avLst>
          </a:prstGeom>
          <a:solidFill>
            <a:srgbClr val="E5E5E0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" name="Text 2"/>
          <p:cNvSpPr/>
          <p:nvPr/>
        </p:nvSpPr>
        <p:spPr>
          <a:xfrm>
            <a:off x="4137720" y="1912516"/>
            <a:ext cx="451016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monitorização integrada dos indicadores de produção, qualidade e manutenção pode apoiar decisões em tempo real para reduzir perdas e aumentar a eficiência?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925119" y="2911897"/>
            <a:ext cx="4722763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Decomposta em </a:t>
            </a:r>
            <a:r>
              <a:rPr lang="en-US" sz="1100" b="1" dirty="0">
                <a:solidFill>
                  <a:srgbClr val="27252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7 perguntas específicas</a:t>
            </a: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, respondidas com evidência no notebook 13: desempenho operacional em tempo real, variabilidade por máquina/turno, relação entre sinais de produção e reclamações, capacidade de processo, perdas operacionais prioritárias, saúde do SGQ e antecipação de desvios.</a:t>
            </a:r>
            <a:endParaRPr lang="en-US" sz="1100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9EB0893C-A90C-765F-B31C-5082E87DFC46}"/>
              </a:ext>
            </a:extLst>
          </p:cNvPr>
          <p:cNvSpPr/>
          <p:nvPr/>
        </p:nvSpPr>
        <p:spPr>
          <a:xfrm>
            <a:off x="7399606" y="4508695"/>
            <a:ext cx="1744394" cy="555674"/>
          </a:xfrm>
          <a:prstGeom prst="rect">
            <a:avLst/>
          </a:prstGeom>
          <a:solidFill>
            <a:srgbClr val="FEFE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419695"/>
            <a:ext cx="4722763" cy="8582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0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Etapa 1–3: Importar, Diagnosticar e Limpar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3925119" y="1477491"/>
            <a:ext cx="2294855" cy="1881113"/>
          </a:xfrm>
          <a:prstGeom prst="roundRect">
            <a:avLst>
              <a:gd name="adj" fmla="val 3066"/>
            </a:avLst>
          </a:prstGeom>
          <a:solidFill>
            <a:srgbClr val="E8E8E3"/>
          </a:solidFill>
          <a:ln w="4763">
            <a:solidFill>
              <a:srgbClr val="CECEC9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Text 2"/>
          <p:cNvSpPr/>
          <p:nvPr/>
        </p:nvSpPr>
        <p:spPr>
          <a:xfrm>
            <a:off x="4067175" y="1619548"/>
            <a:ext cx="2010742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Diagnóstico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4067175" y="1913855"/>
            <a:ext cx="2010742" cy="10863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head()</a:t>
            </a:r>
            <a:r>
              <a:rPr lang="en-US" sz="10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, </a:t>
            </a:r>
            <a:r>
              <a:rPr lang="en-US" sz="105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info()</a:t>
            </a:r>
            <a:r>
              <a:rPr lang="en-US" sz="10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, </a:t>
            </a:r>
            <a:r>
              <a:rPr lang="en-US" sz="105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isna().sum()</a:t>
            </a:r>
            <a:r>
              <a:rPr lang="en-US" sz="10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revelam categorias inconsistentes, nulos disfarçados ("-", " "), números negativos e duplicatas.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352952" y="1477491"/>
            <a:ext cx="2294930" cy="1881113"/>
          </a:xfrm>
          <a:prstGeom prst="roundRect">
            <a:avLst>
              <a:gd name="adj" fmla="val 3066"/>
            </a:avLst>
          </a:prstGeom>
          <a:solidFill>
            <a:srgbClr val="E8E8E3"/>
          </a:solidFill>
          <a:ln w="4763">
            <a:solidFill>
              <a:srgbClr val="CECEC9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5"/>
          <p:cNvSpPr/>
          <p:nvPr/>
        </p:nvSpPr>
        <p:spPr>
          <a:xfrm>
            <a:off x="6495008" y="1619548"/>
            <a:ext cx="2010817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Limpeza Auditável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95008" y="1913855"/>
            <a:ext cx="2010817" cy="1302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Cada função em </a:t>
            </a:r>
            <a:r>
              <a:rPr lang="en-US" sz="105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etl_lib.py</a:t>
            </a:r>
            <a:r>
              <a:rPr lang="en-US" sz="10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imprime linhas afetadas — limpeza transparente, não caixa-preta. Python escolhido por lógica sequencial com memória de linha.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925119" y="3491582"/>
            <a:ext cx="4722763" cy="1232148"/>
          </a:xfrm>
          <a:prstGeom prst="roundRect">
            <a:avLst>
              <a:gd name="adj" fmla="val 4681"/>
            </a:avLst>
          </a:prstGeom>
          <a:solidFill>
            <a:srgbClr val="E8E8E3"/>
          </a:solidFill>
          <a:ln w="4763">
            <a:solidFill>
              <a:srgbClr val="CECEC9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8"/>
          <p:cNvSpPr/>
          <p:nvPr/>
        </p:nvSpPr>
        <p:spPr>
          <a:xfrm>
            <a:off x="4067175" y="3633639"/>
            <a:ext cx="4438650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Engenharia de Colunas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067175" y="3927946"/>
            <a:ext cx="4438650" cy="653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LotId</a:t>
            </a:r>
            <a:r>
              <a:rPr lang="en-US" sz="10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(16 caracteres de rastreabilidade), </a:t>
            </a:r>
            <a:r>
              <a:rPr lang="en-US" sz="105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ShiftNumber</a:t>
            </a:r>
            <a:r>
              <a:rPr lang="en-US" sz="10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, ISOWeek, ligação de paragens a ordens de fabrico, e separação de paragens planeadas vs. não planeadas.</a:t>
            </a:r>
            <a:endParaRPr lang="en-US" sz="1050" dirty="0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208B9F88-02AA-E5A8-7370-BA4C9BA91B9A}"/>
              </a:ext>
            </a:extLst>
          </p:cNvPr>
          <p:cNvSpPr/>
          <p:nvPr/>
        </p:nvSpPr>
        <p:spPr>
          <a:xfrm>
            <a:off x="7399606" y="4723729"/>
            <a:ext cx="1744394" cy="340639"/>
          </a:xfrm>
          <a:prstGeom prst="rect">
            <a:avLst/>
          </a:prstGeom>
          <a:solidFill>
            <a:srgbClr val="FEFE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75184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Indicadores de Produção e Qualidade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672530"/>
            <a:ext cx="390294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OEE e CEP/SPC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96119" y="2035746"/>
            <a:ext cx="3902943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b="1" dirty="0">
                <a:solidFill>
                  <a:srgbClr val="27252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OEE = Disponibilidade × Performance × Qualidade</a:t>
            </a: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— multiplicativo por desenho. CEP aplicado por Característica × Máquina × Molde × Produto: cartas X̄ e R, Cp/Cpk (limiar: ≥ 1,33), Pp/Ppk.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96119" y="3084761"/>
            <a:ext cx="390294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AQL e Six Sigma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96119" y="3447976"/>
            <a:ext cx="390294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ISO 2859-1 define tamanho de amostra e critérios Ac/Re. DPU e DPMO normalizam defeitos entre processos com amostras diferentes.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49701" y="1672530"/>
            <a:ext cx="390294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MTBF e MTTR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749701" y="2035746"/>
            <a:ext cx="390294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Calculados </a:t>
            </a:r>
            <a:r>
              <a:rPr lang="en-US" sz="1100" b="1" dirty="0">
                <a:solidFill>
                  <a:srgbClr val="27252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estritamente</a:t>
            </a: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a partir de falhas não planeadas, em horas. Horas de paragem em cinco recortes: total, operador, máquina, processo e motivo.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49701" y="2875657"/>
            <a:ext cx="3902943" cy="1233190"/>
          </a:xfrm>
          <a:prstGeom prst="roundRect">
            <a:avLst>
              <a:gd name="adj" fmla="val 4828"/>
            </a:avLst>
          </a:prstGeom>
          <a:solidFill>
            <a:srgbClr val="E8E8E3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1460" y="3095476"/>
            <a:ext cx="177180" cy="141759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210398" y="3038624"/>
            <a:ext cx="330048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Paragens planeadas e não planeadas têm Pareto separado — um único gráfico seria dominado por eventos planeados, escondendo prioridades reais de manutenção.</a:t>
            </a:r>
            <a:endParaRPr lang="en-US" sz="1100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41AD8AA9-AF13-FAB3-4C8A-904DBC0CCE2C}"/>
              </a:ext>
            </a:extLst>
          </p:cNvPr>
          <p:cNvSpPr/>
          <p:nvPr/>
        </p:nvSpPr>
        <p:spPr>
          <a:xfrm>
            <a:off x="7399606" y="4508695"/>
            <a:ext cx="1744394" cy="555674"/>
          </a:xfrm>
          <a:prstGeom prst="rect">
            <a:avLst/>
          </a:prstGeom>
          <a:solidFill>
            <a:srgbClr val="FEFE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569565"/>
            <a:ext cx="4722763" cy="3737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Etapa 5: Asseguração da Qualidade</a:t>
            </a:r>
            <a:endParaRPr lang="en-US" sz="23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1094705"/>
            <a:ext cx="298996" cy="29899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96119" y="1519833"/>
            <a:ext cx="4722763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Reclamações de Clientes</a:t>
            </a:r>
            <a:endParaRPr lang="en-US" sz="1150" dirty="0"/>
          </a:p>
        </p:txBody>
      </p:sp>
      <p:sp>
        <p:nvSpPr>
          <p:cNvPr id="6" name="Text 2"/>
          <p:cNvSpPr/>
          <p:nvPr/>
        </p:nvSpPr>
        <p:spPr>
          <a:xfrm>
            <a:off x="496119" y="1767185"/>
            <a:ext cx="4722763" cy="35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Por cliente, produto, defeito e tendência mensal. CPMU (Reclamações Por Milhão Expedido) normaliza para evitar viés por volume.</a:t>
            </a:r>
            <a:endParaRPr lang="en-US" sz="9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19" y="2321719"/>
            <a:ext cx="298996" cy="29899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96119" y="2746846"/>
            <a:ext cx="4722763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Qualidade de Fornecedores</a:t>
            </a:r>
            <a:endParaRPr lang="en-US" sz="1150" dirty="0"/>
          </a:p>
        </p:txBody>
      </p:sp>
      <p:sp>
        <p:nvSpPr>
          <p:cNvPr id="9" name="Text 4"/>
          <p:cNvSpPr/>
          <p:nvPr/>
        </p:nvSpPr>
        <p:spPr>
          <a:xfrm>
            <a:off x="496119" y="2994199"/>
            <a:ext cx="4722763" cy="35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Reclamações por tipo, taxa de rejeição de matéria-prima, índice de aprovação e tempo médio de resposta.</a:t>
            </a:r>
            <a:endParaRPr lang="en-US" sz="9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6119" y="3548732"/>
            <a:ext cx="298996" cy="29899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96119" y="3973860"/>
            <a:ext cx="4722763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NC e CAPA</a:t>
            </a:r>
            <a:endParaRPr lang="en-US" sz="1150" dirty="0"/>
          </a:p>
        </p:txBody>
      </p:sp>
      <p:sp>
        <p:nvSpPr>
          <p:cNvPr id="12" name="Text 6"/>
          <p:cNvSpPr/>
          <p:nvPr/>
        </p:nvSpPr>
        <p:spPr>
          <a:xfrm>
            <a:off x="496119" y="4221212"/>
            <a:ext cx="4722763" cy="35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NC Internas vs. Externas, por processo e área. CAPAs abertas/fechadas/vencidas e tempo médio de encerramento por gravidade.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16893"/>
            <a:ext cx="8151763" cy="408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Etapa 6: Machine Learning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496119" y="1266230"/>
            <a:ext cx="8608963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Seis modelos Random Forest, cada um respondendo a uma pergunta real da fábrica. Divisão </a:t>
            </a:r>
            <a:r>
              <a:rPr lang="en-US" sz="1000" b="1" dirty="0">
                <a:solidFill>
                  <a:srgbClr val="27252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temporal</a:t>
            </a: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(nunca aleatória) para evitar </a:t>
            </a:r>
            <a:r>
              <a:rPr lang="en-US" sz="1000" i="1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data leakage</a:t>
            </a: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96119" y="1602581"/>
            <a:ext cx="8151763" cy="2923952"/>
          </a:xfrm>
          <a:prstGeom prst="roundRect">
            <a:avLst>
              <a:gd name="adj" fmla="val 1877"/>
            </a:avLst>
          </a:prstGeom>
          <a:noFill/>
          <a:ln w="4763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496119" y="1964606"/>
            <a:ext cx="8151763" cy="8168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6" name="Shape 4"/>
          <p:cNvSpPr/>
          <p:nvPr/>
        </p:nvSpPr>
        <p:spPr>
          <a:xfrm>
            <a:off x="496119" y="2324249"/>
            <a:ext cx="8151763" cy="8168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" name="Shape 5"/>
          <p:cNvSpPr/>
          <p:nvPr/>
        </p:nvSpPr>
        <p:spPr>
          <a:xfrm>
            <a:off x="496119" y="2683892"/>
            <a:ext cx="8151763" cy="8168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" name="Shape 6"/>
          <p:cNvSpPr/>
          <p:nvPr/>
        </p:nvSpPr>
        <p:spPr>
          <a:xfrm>
            <a:off x="496119" y="3043535"/>
            <a:ext cx="8151763" cy="8168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496119" y="3604022"/>
            <a:ext cx="8151763" cy="8168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496119" y="3963665"/>
            <a:ext cx="8151763" cy="8168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632445" y="1684362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b="1" dirty="0">
                <a:solidFill>
                  <a:srgbClr val="27252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Modelo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45954" y="1684362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b="1" dirty="0">
                <a:solidFill>
                  <a:srgbClr val="27252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Pergunta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59463" y="1684362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b="1" dirty="0">
                <a:solidFill>
                  <a:srgbClr val="27252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Métrica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2445" y="2044005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Previsão de Produção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45954" y="2044005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Unidades por processo na próxima semana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59463" y="2044005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R² ≈ 0,97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2445" y="2403649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Horas Paradas Semanais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45954" y="2403649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Horas de paragem não planeada esperadas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59463" y="2403649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R² ≈ 0,91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2445" y="2763292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Unidades Rejeitadas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45954" y="2763292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Volume semanal absoluto de scrap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059463" y="2763292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R² ≈ 0,99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2445" y="3122935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Scrap por Ordem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45954" y="3122935"/>
            <a:ext cx="2452167" cy="401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Scrap esperado por máquina/molde/operador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59463" y="3122935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R² ≈ 0,77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2445" y="3683422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Classificação de Lote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345954" y="3683422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Aprovação ou reprovação final do lote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59463" y="3683422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ROC-AUC ≈ 0,61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2445" y="4043065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Manutenção Preditiva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45954" y="4043065"/>
            <a:ext cx="2452167" cy="401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Ranking diário de risco de avaria por máquina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059463" y="4043065"/>
            <a:ext cx="2909367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ROC-AUC ≈ 0,72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11733"/>
            <a:ext cx="4722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Etapa 7: Síntese Final</a:t>
            </a:r>
            <a:endParaRPr lang="en-US" sz="24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962025"/>
            <a:ext cx="4722763" cy="90755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91530" y="1100286"/>
            <a:ext cx="4389090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Paragens são a principal perda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691530" y="1359247"/>
            <a:ext cx="4389090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Correlação mais forte com OEE por ordem: </a:t>
            </a:r>
            <a:r>
              <a:rPr lang="en-US" sz="950" b="1" dirty="0">
                <a:solidFill>
                  <a:srgbClr val="27252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r = −0,89</a:t>
            </a:r>
            <a:r>
              <a:rPr lang="en-US" sz="9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. A restrição é operacional, não estrutural.</a:t>
            </a:r>
            <a:endParaRPr lang="en-US" sz="9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19" y="1978075"/>
            <a:ext cx="4722763" cy="721519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91530" y="2116336"/>
            <a:ext cx="4389090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Capacidade de processo garantida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691530" y="2375297"/>
            <a:ext cx="4389090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27252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100%</a:t>
            </a:r>
            <a:r>
              <a:rPr lang="en-US" sz="9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das combinações máquina × característica com Cpk ≥ 1,33.</a:t>
            </a:r>
            <a:endParaRPr lang="en-US" sz="9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2808089"/>
            <a:ext cx="4722763" cy="90755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91530" y="2946350"/>
            <a:ext cx="4389090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Sinal fraco para reclamações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91530" y="3205311"/>
            <a:ext cx="4389090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Sinais de produção têm correlação fraca com reclamações reais — reportado honestamente.</a:t>
            </a:r>
            <a:endParaRPr lang="en-US" sz="9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3824139"/>
            <a:ext cx="4722763" cy="90755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691530" y="3962400"/>
            <a:ext cx="4389090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ML com honestidade</a:t>
            </a:r>
            <a:endParaRPr lang="en-US" sz="1200" dirty="0"/>
          </a:p>
        </p:txBody>
      </p:sp>
      <p:sp>
        <p:nvSpPr>
          <p:cNvPr id="15" name="Text 8"/>
          <p:cNvSpPr/>
          <p:nvPr/>
        </p:nvSpPr>
        <p:spPr>
          <a:xfrm>
            <a:off x="691530" y="4221361"/>
            <a:ext cx="4389090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Dois modelos com desempenho modesto — achado genuíno sobre limites do sinal aprendível.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761777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Conclusão</a:t>
            </a:r>
            <a:endParaRPr lang="en-US" sz="2750" dirty="0"/>
          </a:p>
        </p:txBody>
      </p:sp>
      <p:sp>
        <p:nvSpPr>
          <p:cNvPr id="6" name="Text 4"/>
          <p:cNvSpPr/>
          <p:nvPr/>
        </p:nvSpPr>
        <p:spPr>
          <a:xfrm>
            <a:off x="669057" y="1559123"/>
            <a:ext cx="390294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Resposta à Pergunta Central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78631" y="2004715"/>
            <a:ext cx="7840883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b="1" dirty="0">
                <a:solidFill>
                  <a:srgbClr val="27252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Sim.</a:t>
            </a:r>
            <a:r>
              <a:rPr lang="en-US" sz="1100" dirty="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Monitorizar produção, qualidade e manutenção em conjunto — e combinar visão histórica com modelos preditivos — revela causas-raiz que dashboards isolados deixam passar e oferece antecipação que abordagens puramente históricas não conseguem.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69056" y="3003388"/>
            <a:ext cx="3902943" cy="1006376"/>
          </a:xfrm>
          <a:prstGeom prst="roundRect">
            <a:avLst>
              <a:gd name="adj" fmla="val 5917"/>
            </a:avLst>
          </a:prstGeom>
          <a:solidFill>
            <a:srgbClr val="E8E8E3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684" y="3221162"/>
            <a:ext cx="177180" cy="14175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9666" y="3166355"/>
            <a:ext cx="3300487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Histórico explica o </a:t>
            </a:r>
            <a:r>
              <a:rPr lang="en-US" sz="1100" i="1" dirty="0">
                <a:solidFill>
                  <a:srgbClr val="00000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porquê</a:t>
            </a:r>
            <a:r>
              <a:rPr lang="en-US" sz="1100" dirty="0">
                <a:solidFill>
                  <a:srgbClr val="00000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. Previsão sinaliza </a:t>
            </a:r>
            <a:r>
              <a:rPr lang="en-US" sz="1100" i="1" dirty="0">
                <a:solidFill>
                  <a:srgbClr val="00000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quando agir</a:t>
            </a:r>
            <a:r>
              <a:rPr lang="en-US" sz="1100" dirty="0">
                <a:solidFill>
                  <a:srgbClr val="00000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. A combinação responde com evidência, não opinião.</a:t>
            </a:r>
            <a:endParaRPr lang="en-US" sz="11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F1DB8C4E-4EAF-71AE-EBCE-A3F4329CFD2C}"/>
              </a:ext>
            </a:extLst>
          </p:cNvPr>
          <p:cNvSpPr/>
          <p:nvPr/>
        </p:nvSpPr>
        <p:spPr>
          <a:xfrm>
            <a:off x="7399606" y="4508695"/>
            <a:ext cx="1744394" cy="555674"/>
          </a:xfrm>
          <a:prstGeom prst="rect">
            <a:avLst/>
          </a:prstGeom>
          <a:solidFill>
            <a:srgbClr val="FEFE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683</Words>
  <Application>Microsoft Office PowerPoint</Application>
  <PresentationFormat>Apresentação no Ecrã (16:9)</PresentationFormat>
  <Paragraphs>77</Paragraphs>
  <Slides>8</Slides>
  <Notes>8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8</vt:i4>
      </vt:variant>
    </vt:vector>
  </HeadingPairs>
  <TitlesOfParts>
    <vt:vector size="14" baseType="lpstr">
      <vt:lpstr>Consolas</vt:lpstr>
      <vt:lpstr>Arial</vt:lpstr>
      <vt:lpstr>Gelasio</vt:lpstr>
      <vt:lpstr>Lato</vt:lpstr>
      <vt:lpstr>Lato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Aline Meireles</dc:creator>
  <cp:lastModifiedBy>Aline Meireles</cp:lastModifiedBy>
  <cp:revision>3</cp:revision>
  <dcterms:created xsi:type="dcterms:W3CDTF">2026-07-14T05:46:23Z</dcterms:created>
  <dcterms:modified xsi:type="dcterms:W3CDTF">2026-07-14T05:59:29Z</dcterms:modified>
</cp:coreProperties>
</file>