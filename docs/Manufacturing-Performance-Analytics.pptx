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Gelasio" panose="020B0604020202020204" charset="0"/>
      <p:regular r:id="rId15"/>
    </p:embeddedFont>
    <p:embeddedFont>
      <p:font typeface="Lato" panose="020F0502020204030203" pitchFamily="34" charset="0"/>
      <p:regular r:id="rId16"/>
    </p:embeddedFont>
    <p:embeddedFont>
      <p:font typeface="Lato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459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5173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Manufacturing Performance Analytics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450306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Análise integrada de Produção, Qualidade, Manutenção e </a:t>
            </a:r>
            <a:r>
              <a:rPr lang="en-US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Asseguramento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da Qualidade com Machine Learning — numa fábrica simulada de embalagens plásticas.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290218"/>
            <a:ext cx="392311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E5E5E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3"/>
          <p:cNvSpPr/>
          <p:nvPr/>
        </p:nvSpPr>
        <p:spPr>
          <a:xfrm>
            <a:off x="4010174" y="3332708"/>
            <a:ext cx="67940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5E5E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OEE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388272" y="3290218"/>
            <a:ext cx="624260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E5E5E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4473327" y="3332708"/>
            <a:ext cx="91134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5E5E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CEP/SPC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083373" y="3290218"/>
            <a:ext cx="990600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E5E5E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7"/>
          <p:cNvSpPr/>
          <p:nvPr/>
        </p:nvSpPr>
        <p:spPr>
          <a:xfrm>
            <a:off x="5168429" y="3332708"/>
            <a:ext cx="127768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5E5E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AQL ISO 2859-1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144816" y="3290218"/>
            <a:ext cx="1027881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E5E5E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9"/>
          <p:cNvSpPr/>
          <p:nvPr/>
        </p:nvSpPr>
        <p:spPr>
          <a:xfrm>
            <a:off x="6229871" y="3332708"/>
            <a:ext cx="131497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5E5E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LEAN SIX SIGMA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243539" y="3290218"/>
            <a:ext cx="639366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E5E5E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1"/>
          <p:cNvSpPr/>
          <p:nvPr/>
        </p:nvSpPr>
        <p:spPr>
          <a:xfrm>
            <a:off x="7328595" y="3332708"/>
            <a:ext cx="92645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5E5E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925119" y="3576414"/>
            <a:ext cx="714152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E5E5E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3"/>
          <p:cNvSpPr/>
          <p:nvPr/>
        </p:nvSpPr>
        <p:spPr>
          <a:xfrm>
            <a:off x="4010174" y="3618905"/>
            <a:ext cx="100124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5E5E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 BI</a:t>
            </a:r>
            <a:endParaRPr lang="en-US" sz="850" dirty="0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DB1C5C9-69E7-9F3F-DA9A-1292AE3FDE15}"/>
              </a:ext>
            </a:extLst>
          </p:cNvPr>
          <p:cNvSpPr/>
          <p:nvPr/>
        </p:nvSpPr>
        <p:spPr>
          <a:xfrm>
            <a:off x="7399606" y="4508695"/>
            <a:ext cx="1744394" cy="555674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ED4FD1AF-D7F8-9D34-9ADA-B4A71919341F}"/>
              </a:ext>
            </a:extLst>
          </p:cNvPr>
          <p:cNvSpPr/>
          <p:nvPr/>
        </p:nvSpPr>
        <p:spPr>
          <a:xfrm>
            <a:off x="3868489" y="4269728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Aline Meireles | Susana Sousa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9745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Pergunta Central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753046"/>
            <a:ext cx="19050" cy="999381"/>
          </a:xfrm>
          <a:prstGeom prst="roundRect">
            <a:avLst>
              <a:gd name="adj" fmla="val 60000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Text 2"/>
          <p:cNvSpPr/>
          <p:nvPr/>
        </p:nvSpPr>
        <p:spPr>
          <a:xfrm>
            <a:off x="4137720" y="1912516"/>
            <a:ext cx="451016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monitorização integrada dos indicadores de produção, qualidade e manutenção pode apoiar decisões em tempo real para reduzir perdas e aumentar a eficiência?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25119" y="2911897"/>
            <a:ext cx="472276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Decomposta em </a:t>
            </a:r>
            <a:r>
              <a:rPr 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7 perguntas específicas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respondidas com evidência no notebook 13: desempenho operacional em tempo real, variabilidade por máquina/turno, relação entre sinais de produção e reclamações, capacidade de processo, perdas operacionais prioritárias, saúde do SGQ e antecipação de desvios.</a:t>
            </a:r>
            <a:endParaRPr lang="en-US" sz="1100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EB0893C-A90C-765F-B31C-5082E87DFC46}"/>
              </a:ext>
            </a:extLst>
          </p:cNvPr>
          <p:cNvSpPr/>
          <p:nvPr/>
        </p:nvSpPr>
        <p:spPr>
          <a:xfrm>
            <a:off x="7399606" y="4508695"/>
            <a:ext cx="1744394" cy="555674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9695"/>
            <a:ext cx="4722763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Etapa 1–3: Importar, Diagnosticar e Limpar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925119" y="1477491"/>
            <a:ext cx="2294855" cy="1881113"/>
          </a:xfrm>
          <a:prstGeom prst="roundRect">
            <a:avLst>
              <a:gd name="adj" fmla="val 3066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2"/>
          <p:cNvSpPr/>
          <p:nvPr/>
        </p:nvSpPr>
        <p:spPr>
          <a:xfrm>
            <a:off x="4067175" y="1619548"/>
            <a:ext cx="20107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Diagnóstico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7175" y="1913855"/>
            <a:ext cx="2010742" cy="108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head()</a:t>
            </a: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info()</a:t>
            </a: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isna().sum()</a:t>
            </a: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revelam categorias inconsistentes, nulos disfarçados ("-", " "), números negativos e duplicatas.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352952" y="1477491"/>
            <a:ext cx="2294930" cy="1881113"/>
          </a:xfrm>
          <a:prstGeom prst="roundRect">
            <a:avLst>
              <a:gd name="adj" fmla="val 3066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6495008" y="1619548"/>
            <a:ext cx="201081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Limpeza Auditável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5008" y="1913855"/>
            <a:ext cx="2010817" cy="1302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Cada função em </a:t>
            </a: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etl_lib.py</a:t>
            </a: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imprime linhas afetadas — limpeza transparente, não caixa-preta. Python escolhido por lógica sequencial com memória de linha.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25119" y="3491582"/>
            <a:ext cx="4722763" cy="1232148"/>
          </a:xfrm>
          <a:prstGeom prst="roundRect">
            <a:avLst>
              <a:gd name="adj" fmla="val 4681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8"/>
          <p:cNvSpPr/>
          <p:nvPr/>
        </p:nvSpPr>
        <p:spPr>
          <a:xfrm>
            <a:off x="4067175" y="3633639"/>
            <a:ext cx="443865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Engenharia de Colunas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7175" y="3927946"/>
            <a:ext cx="4438650" cy="653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LotId</a:t>
            </a: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(16 caracteres de rastreabilidade), </a:t>
            </a: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ShiftNumber</a:t>
            </a: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ISOWeek, ligação de paragens a ordens de fabrico, e separação de paragens planeadas vs. não planeadas.</a:t>
            </a:r>
            <a:endParaRPr lang="en-US" sz="1050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08B9F88-02AA-E5A8-7370-BA4C9BA91B9A}"/>
              </a:ext>
            </a:extLst>
          </p:cNvPr>
          <p:cNvSpPr/>
          <p:nvPr/>
        </p:nvSpPr>
        <p:spPr>
          <a:xfrm>
            <a:off x="7399606" y="4723729"/>
            <a:ext cx="1744394" cy="340639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518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Indicadores de Produção e Qualidade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7253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OEE e CEP/SPC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035746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OEE = Disponibilidade × Performance × Qualidade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multiplicativo por desenho. CEP aplicado por Característica × Máquina × Molde × Produto: cartas X̄ e R, Cp/Cpk (limiar: ≥ 1,33), Pp/Ppk.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08476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AQL e Six Sigma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447976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ISO 2859-1 define tamanho de amostra e critérios Ac/Re. DPU e DPMO normalizam defeitos entre processos com amostras diferentes.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167253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MTBF e MTTR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2035746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Calculados </a:t>
            </a:r>
            <a:r>
              <a:rPr 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estritamente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 partir de falhas não planeadas, em horas. Horas de paragem em cinco recortes: total, operador, máquina, processo e motivo.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49701" y="2875657"/>
            <a:ext cx="3902943" cy="1233190"/>
          </a:xfrm>
          <a:prstGeom prst="roundRect">
            <a:avLst>
              <a:gd name="adj" fmla="val 4828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460" y="3095476"/>
            <a:ext cx="177180" cy="14175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10398" y="3038624"/>
            <a:ext cx="330048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Paragens planeadas e não planeadas têm Pareto separado — um único gráfico seria dominado por eventos planeados, escondendo prioridades reais de manutenção.</a:t>
            </a:r>
            <a:endParaRPr lang="en-US" sz="1100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1AD8AA9-AF13-FAB3-4C8A-904DBC0CCE2C}"/>
              </a:ext>
            </a:extLst>
          </p:cNvPr>
          <p:cNvSpPr/>
          <p:nvPr/>
        </p:nvSpPr>
        <p:spPr>
          <a:xfrm>
            <a:off x="7399606" y="4508695"/>
            <a:ext cx="1744394" cy="555674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69565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Etapa 5: </a:t>
            </a:r>
            <a:r>
              <a:rPr lang="en-US" sz="2350" dirty="0" err="1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Asseguramento</a:t>
            </a:r>
            <a:r>
              <a:rPr lang="en-US" sz="2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da Qualidade</a:t>
            </a:r>
            <a:endParaRPr lang="en-US" sz="2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094705"/>
            <a:ext cx="298996" cy="2989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1519833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Reclamações de Clientes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496119" y="1767185"/>
            <a:ext cx="472276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Por cliente, produto, defeito e tendência mensal. CPMU (Reclamações Por Milhão Expedido) normaliza para evitar viés por volume.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321719"/>
            <a:ext cx="298996" cy="2989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6119" y="2746846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Qualidade de Fornecedores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496119" y="2994199"/>
            <a:ext cx="472276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Reclamações por tipo, taxa de rejeição de matéria-prima, índice de aprovação e tempo médio de resposta.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548732"/>
            <a:ext cx="298996" cy="2989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6119" y="3973860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NC e CAPA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96119" y="4221212"/>
            <a:ext cx="472276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NC Internas vs. Externas, por processo e área. CAPAs abertas/fechadas/vencidas e tempo médio de encerramento por gravidade.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6893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Etapa 6: Machine Learning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266230"/>
            <a:ext cx="860896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Seis modelos Random Forest, cada um respondendo a uma pergunta real da fábrica. Divisão </a:t>
            </a:r>
            <a:r>
              <a:rPr lang="en-US" sz="10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temporal</a:t>
            </a: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(nunca aleatória) para evitar </a:t>
            </a:r>
            <a:r>
              <a:rPr lang="en-US" sz="1000" i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leakage</a:t>
            </a: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602581"/>
            <a:ext cx="8151763" cy="2923952"/>
          </a:xfrm>
          <a:prstGeom prst="roundRect">
            <a:avLst>
              <a:gd name="adj" fmla="val 187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496119" y="1964606"/>
            <a:ext cx="8151763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496119" y="2324249"/>
            <a:ext cx="8151763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496119" y="2683892"/>
            <a:ext cx="8151763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Shape 6"/>
          <p:cNvSpPr/>
          <p:nvPr/>
        </p:nvSpPr>
        <p:spPr>
          <a:xfrm>
            <a:off x="496119" y="3043535"/>
            <a:ext cx="8151763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9" name="Shape 7"/>
          <p:cNvSpPr/>
          <p:nvPr/>
        </p:nvSpPr>
        <p:spPr>
          <a:xfrm>
            <a:off x="496119" y="3604022"/>
            <a:ext cx="8151763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496119" y="3963665"/>
            <a:ext cx="8151763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632445" y="1684362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Modelo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45954" y="1684362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Pergunta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59463" y="1684362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Métrica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2445" y="2044005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Previsão de Produção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45954" y="2044005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Unidades por processo na próxima semana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59463" y="2044005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R² ≈ 0,97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2445" y="2403649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Horas Paradas Semanais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45954" y="2403649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Horas de paragem não planeada esperadas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59463" y="2403649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R² ≈ 0,91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2445" y="2763292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Unidades Rejeitadas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45954" y="2763292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Volume semanal absoluto de scrap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59463" y="2763292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R² ≈ 0,99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2445" y="3122935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Scrap por Ordem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45954" y="3122935"/>
            <a:ext cx="245216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Scrap esperado por máquina/molde/operador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59463" y="3122935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R² ≈ 0,77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2445" y="3683422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Classificação de Lote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45954" y="3683422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Aprovação ou reprovação final do lote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59463" y="3683422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ROC-AUC ≈ 0,61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2445" y="4043065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Manutenção Preditiva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45954" y="4043065"/>
            <a:ext cx="245216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Ranking diário de risco de avaria por máquina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59463" y="4043065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ROC-AUC ≈ 0,72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1733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Etapa 7: Síntese Final</a:t>
            </a:r>
            <a:endParaRPr lang="en-US" sz="2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962025"/>
            <a:ext cx="4722763" cy="9075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1530" y="1100286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Paragens são a principal perda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91530" y="1359247"/>
            <a:ext cx="4389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Correlação mais forte com OEE por ordem: </a:t>
            </a:r>
            <a:r>
              <a:rPr lang="en-US" sz="9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 = −0,89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A restrição é operacional, não estrutural.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978075"/>
            <a:ext cx="4722763" cy="72151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91530" y="2116336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Capacidade de processo garantida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91530" y="2375297"/>
            <a:ext cx="438909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100%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das combinações máquina × característica com Cpk ≥ 1,33.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808089"/>
            <a:ext cx="4722763" cy="90755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1530" y="2946350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Sinal fraco para reclamações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91530" y="3205311"/>
            <a:ext cx="4389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Sinais de produção têm correlação fraca com reclamações reais — reportado honestamente.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824139"/>
            <a:ext cx="4722763" cy="90755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91530" y="3962400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ML com honestidade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91530" y="4221361"/>
            <a:ext cx="4389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Dois modelos com desempenho modesto — achado genuíno sobre limites do sinal aprendível.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177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Conclusão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669057" y="1559123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Resposta à Pergunta Central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8631" y="2004715"/>
            <a:ext cx="784088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Sim.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Monitorizar produção, qualidade e manutenção em conjunto — e combinar visão histórica com modelos preditivos — revela causas-raiz que dashboards isolados deixam passar e oferece antecipação que abordagens puramente históricas não conseguem.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9056" y="3003388"/>
            <a:ext cx="3902943" cy="1006376"/>
          </a:xfrm>
          <a:prstGeom prst="roundRect">
            <a:avLst>
              <a:gd name="adj" fmla="val 5917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684" y="3221162"/>
            <a:ext cx="177180" cy="1417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9666" y="3166355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Histórico explica o </a:t>
            </a:r>
            <a:r>
              <a:rPr lang="en-US" sz="1100" i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porquê</a:t>
            </a:r>
            <a:r>
              <a:rPr lang="en-US" sz="11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Previsão sinaliza </a:t>
            </a:r>
            <a:r>
              <a:rPr lang="en-US" sz="1100" i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quando agir</a:t>
            </a:r>
            <a:r>
              <a:rPr lang="en-US" sz="11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A combinação responde com evidência, não opinião.</a:t>
            </a:r>
            <a:endParaRPr lang="en-US" sz="1100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1DB8C4E-4EAF-71AE-EBCE-A3F4329CFD2C}"/>
              </a:ext>
            </a:extLst>
          </p:cNvPr>
          <p:cNvSpPr/>
          <p:nvPr/>
        </p:nvSpPr>
        <p:spPr>
          <a:xfrm>
            <a:off x="7399606" y="4508695"/>
            <a:ext cx="1744394" cy="555674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862B2A4-87D1-8FF2-618C-347B181E86B7}"/>
              </a:ext>
            </a:extLst>
          </p:cNvPr>
          <p:cNvSpPr txBox="1"/>
          <p:nvPr/>
        </p:nvSpPr>
        <p:spPr>
          <a:xfrm>
            <a:off x="1109666" y="4255420"/>
            <a:ext cx="6592396" cy="294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C:\Projetos\manufacturing-performance-analytics\power_bi\dashboard_operations.pbip</a:t>
            </a:r>
            <a:endParaRPr lang="pt-PT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703</Words>
  <Application>Microsoft Office PowerPoint</Application>
  <PresentationFormat>Apresentação no Ecrã (16:9)</PresentationFormat>
  <Paragraphs>79</Paragraphs>
  <Slides>8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15" baseType="lpstr">
      <vt:lpstr>Lato Bold</vt:lpstr>
      <vt:lpstr>Arial</vt:lpstr>
      <vt:lpstr>Consolas</vt:lpstr>
      <vt:lpstr>Gelasio</vt:lpstr>
      <vt:lpstr>Aptos</vt:lpstr>
      <vt:lpstr>Lato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Aline Meireles</dc:creator>
  <cp:lastModifiedBy>Aline Meireles</cp:lastModifiedBy>
  <cp:revision>5</cp:revision>
  <dcterms:created xsi:type="dcterms:W3CDTF">2026-07-14T05:46:23Z</dcterms:created>
  <dcterms:modified xsi:type="dcterms:W3CDTF">2026-07-14T08:59:32Z</dcterms:modified>
</cp:coreProperties>
</file>